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743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2743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37360" y="2743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377440" y="2743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17520" y="2743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0" y="2743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97680" y="2743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37760" y="2743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577840" y="2743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2743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0" y="2743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98080" y="2743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38160" y="2743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778240" y="2743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10515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97280" y="10515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737360" y="10515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77440" y="10515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017520" y="10515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0" y="10515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97680" y="10515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37760" y="10515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577840" y="10515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17920" y="10515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58000" y="10515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98080" y="10515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38160" y="10515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778240" y="10515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18288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97280" y="18288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737360" y="18288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377440" y="18288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017520" y="18288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657600" y="18288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297680" y="18288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937760" y="18288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577840" y="18288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217920" y="18288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858000" y="18288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498080" y="18288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138160" y="18288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778240" y="18288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57200" y="26060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97280" y="26060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737360" y="26060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377440" y="26060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017520" y="26060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657600" y="26060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297680" y="26060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937760" y="26060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577840" y="26060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217920" y="26060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858000" y="26060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498080" y="26060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138160" y="26060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778240" y="26060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57200" y="33832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097280" y="33832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737360" y="33832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377440" y="33832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017520" y="33832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657600" y="33832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297680" y="33832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937760" y="33832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577840" y="33832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217920" y="33832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858000" y="33832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498080" y="33832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138160" y="33832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778240" y="33832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57200" y="41605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097280" y="41605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737360" y="41605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377440" y="41605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017520" y="41605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3657600" y="41605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297680" y="41605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4937760" y="41605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5577840" y="41605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217920" y="41605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6858000" y="41605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498080" y="41605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138160" y="41605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8778240" y="41605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502920" y="502920"/>
            <a:ext cx="1005840" cy="100584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pic>
        <p:nvPicPr>
          <p:cNvPr id="8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713232"/>
            <a:ext cx="585216" cy="585216"/>
          </a:xfrm>
          <a:prstGeom prst="rect">
            <a:avLst/>
          </a:prstGeom>
        </p:spPr>
      </p:pic>
      <p:sp>
        <p:nvSpPr>
          <p:cNvPr id="89" name="Text 86"/>
          <p:cNvSpPr/>
          <p:nvPr/>
        </p:nvSpPr>
        <p:spPr>
          <a:xfrm>
            <a:off x="182880" y="173736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CargoGuard AI</a:t>
            </a:r>
            <a:endParaRPr lang="en-US" sz="5400" dirty="0"/>
          </a:p>
        </p:txBody>
      </p:sp>
      <p:sp>
        <p:nvSpPr>
          <p:cNvPr id="90" name="Text 87"/>
          <p:cNvSpPr/>
          <p:nvPr/>
        </p:nvSpPr>
        <p:spPr>
          <a:xfrm>
            <a:off x="182880" y="274320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Freight Claim Defense Marketplace</a:t>
            </a:r>
            <a:endParaRPr lang="en-US" sz="2000" dirty="0"/>
          </a:p>
        </p:txBody>
      </p:sp>
      <p:sp>
        <p:nvSpPr>
          <p:cNvPr id="91" name="Text 88"/>
          <p:cNvSpPr/>
          <p:nvPr/>
        </p:nvSpPr>
        <p:spPr>
          <a:xfrm>
            <a:off x="182880" y="32918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Zenduit telematics + xentag authentication</a:t>
            </a:r>
            <a:endParaRPr lang="en-US" sz="1400" dirty="0"/>
          </a:p>
        </p:txBody>
      </p:sp>
      <p:sp>
        <p:nvSpPr>
          <p:cNvPr id="92" name="Shape 89"/>
          <p:cNvSpPr/>
          <p:nvPr/>
        </p:nvSpPr>
        <p:spPr>
          <a:xfrm>
            <a:off x="7223760" y="1005840"/>
            <a:ext cx="1645920" cy="1005840"/>
          </a:xfrm>
          <a:prstGeom prst="rect">
            <a:avLst/>
          </a:prstGeom>
          <a:solidFill>
            <a:srgbClr val="1A3C5E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93" name="Text 90"/>
          <p:cNvSpPr/>
          <p:nvPr/>
        </p:nvSpPr>
        <p:spPr>
          <a:xfrm>
            <a:off x="7223760" y="10515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CC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$1B+</a:t>
            </a:r>
            <a:endParaRPr lang="en-US" sz="2600" dirty="0"/>
          </a:p>
        </p:txBody>
      </p:sp>
      <p:sp>
        <p:nvSpPr>
          <p:cNvPr id="94" name="Text 91"/>
          <p:cNvSpPr/>
          <p:nvPr/>
        </p:nvSpPr>
        <p:spPr>
          <a:xfrm>
            <a:off x="7223760" y="152704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freight claims (NA)</a:t>
            </a:r>
            <a:endParaRPr lang="en-US" sz="900" dirty="0"/>
          </a:p>
        </p:txBody>
      </p:sp>
      <p:sp>
        <p:nvSpPr>
          <p:cNvPr id="95" name="Shape 92"/>
          <p:cNvSpPr/>
          <p:nvPr/>
        </p:nvSpPr>
        <p:spPr>
          <a:xfrm>
            <a:off x="7223760" y="2240280"/>
            <a:ext cx="1645920" cy="1005840"/>
          </a:xfrm>
          <a:prstGeom prst="rect">
            <a:avLst/>
          </a:prstGeom>
          <a:solidFill>
            <a:srgbClr val="1A3C5E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96" name="Text 93"/>
          <p:cNvSpPr/>
          <p:nvPr/>
        </p:nvSpPr>
        <p:spPr>
          <a:xfrm>
            <a:off x="7223760" y="2286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CC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 hrs</a:t>
            </a:r>
            <a:endParaRPr lang="en-US" sz="2600" dirty="0"/>
          </a:p>
        </p:txBody>
      </p:sp>
      <p:sp>
        <p:nvSpPr>
          <p:cNvPr id="97" name="Text 94"/>
          <p:cNvSpPr/>
          <p:nvPr/>
        </p:nvSpPr>
        <p:spPr>
          <a:xfrm>
            <a:off x="7223760" y="276148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manual response time</a:t>
            </a:r>
            <a:endParaRPr lang="en-US" sz="900" dirty="0"/>
          </a:p>
        </p:txBody>
      </p:sp>
      <p:sp>
        <p:nvSpPr>
          <p:cNvPr id="98" name="Shape 95"/>
          <p:cNvSpPr/>
          <p:nvPr/>
        </p:nvSpPr>
        <p:spPr>
          <a:xfrm>
            <a:off x="7223760" y="3474720"/>
            <a:ext cx="1645920" cy="1005840"/>
          </a:xfrm>
          <a:prstGeom prst="rect">
            <a:avLst/>
          </a:prstGeom>
          <a:solidFill>
            <a:srgbClr val="1A3C5E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99" name="Text 96"/>
          <p:cNvSpPr/>
          <p:nvPr/>
        </p:nvSpPr>
        <p:spPr>
          <a:xfrm>
            <a:off x="7223760" y="35204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CC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15 min</a:t>
            </a:r>
            <a:endParaRPr lang="en-US" sz="2600" dirty="0"/>
          </a:p>
        </p:txBody>
      </p:sp>
      <p:sp>
        <p:nvSpPr>
          <p:cNvPr id="100" name="Text 97"/>
          <p:cNvSpPr/>
          <p:nvPr/>
        </p:nvSpPr>
        <p:spPr>
          <a:xfrm>
            <a:off x="7223760" y="399592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CargoGuard AI</a:t>
            </a:r>
            <a:endParaRPr lang="en-US" sz="900" dirty="0"/>
          </a:p>
        </p:txBody>
      </p:sp>
      <p:sp>
        <p:nvSpPr>
          <p:cNvPr id="101" name="Shape 98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102" name="Text 99"/>
          <p:cNvSpPr/>
          <p:nvPr/>
        </p:nvSpPr>
        <p:spPr>
          <a:xfrm>
            <a:off x="182880" y="4764024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Zenduit + xentag  ·  AI-Powered  ·  Marketplace Model  ·  MVP Ready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82880"/>
            <a:ext cx="502920" cy="502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20040" y="1188720"/>
            <a:ext cx="20116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20040" y="1188720"/>
            <a:ext cx="2011680" cy="64008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1280160"/>
            <a:ext cx="457200" cy="457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65760" y="19202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8–20 Hours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11480" y="2468880"/>
            <a:ext cx="1828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manually gather GPS logs, dashcam clips, and product docs for every single claim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2496312" y="1188720"/>
            <a:ext cx="20116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2496312" y="1188720"/>
            <a:ext cx="2011680" cy="64008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5264" y="1280160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542032" y="19202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$1B+ Lost Annually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2587752" y="2468880"/>
            <a:ext cx="1828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American freight operators lose over a billion dollars yearly in undefended or lost claims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4672584" y="1188720"/>
            <a:ext cx="20116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4672584" y="1188720"/>
            <a:ext cx="2011680" cy="6400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1536" y="1280160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718304" y="19202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Disorganized Evidence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4764024" y="2468880"/>
            <a:ext cx="1828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lives in 4 separate systems — Zenduit, xentag, email, and carrier portals — never assembled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6848856" y="1188720"/>
            <a:ext cx="20116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6848856" y="1188720"/>
            <a:ext cx="2011680" cy="64008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7808" y="1280160"/>
            <a:ext cx="457200" cy="4572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894576" y="19202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Dedicated Staff</a:t>
            </a:r>
            <a:endParaRPr lang="en-US" sz="1600" dirty="0"/>
          </a:p>
        </p:txBody>
      </p:sp>
      <p:sp>
        <p:nvSpPr>
          <p:cNvPr id="24" name="Text 17"/>
          <p:cNvSpPr/>
          <p:nvPr/>
        </p:nvSpPr>
        <p:spPr>
          <a:xfrm>
            <a:off x="6940296" y="2468880"/>
            <a:ext cx="1828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Mid-size fleets (50–500 trucks) can't afford in-house claims adjusters but face the same claim volume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3C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440"/>
          </a:solidFill>
          <a:ln w="12700">
            <a:solidFill>
              <a:srgbClr val="0F24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Solution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CargoGuard AI automatically pulls verified Zenduit + xentag data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assembles a winning claim response in under 15 minutes.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68680" y="2057400"/>
            <a:ext cx="822960" cy="82296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2167128"/>
            <a:ext cx="603504" cy="6035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3017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Arrives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65760" y="3383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pasted or uploaded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1920240" y="2441448"/>
            <a:ext cx="320040" cy="54864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578608" y="2057400"/>
            <a:ext cx="822960" cy="82296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8336" y="2167128"/>
            <a:ext cx="603504" cy="60350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075688" y="3017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Classifies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2075688" y="3383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claim types detected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3630168" y="2441448"/>
            <a:ext cx="320040" cy="54864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288536" y="2057400"/>
            <a:ext cx="822960" cy="82296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8264" y="2167128"/>
            <a:ext cx="603504" cy="60350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785616" y="3017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Pulled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3785616" y="3383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Zenduit + xentag APIs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5340096" y="2441448"/>
            <a:ext cx="320040" cy="54864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998464" y="2057400"/>
            <a:ext cx="822960" cy="82296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8192" y="2167128"/>
            <a:ext cx="603504" cy="60350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95544" y="3017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Scored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5495544" y="3383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/ Moderate / Strong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7050024" y="2441448"/>
            <a:ext cx="320040" cy="54864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7708392" y="2057400"/>
            <a:ext cx="822960" cy="82296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8120" y="2167128"/>
            <a:ext cx="603504" cy="60350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205472" y="3017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Ready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7205472" y="3383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approves &amp; submits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1371600" y="3931920"/>
            <a:ext cx="6400800" cy="77724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3"/>
          <p:cNvSpPr/>
          <p:nvPr/>
        </p:nvSpPr>
        <p:spPr>
          <a:xfrm>
            <a:off x="1371600" y="393192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submitted without explicit human approval — the operator reviews and sends.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Platform &amp; Data Advantage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37490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3749040" cy="54864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14300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11430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ZENDUIT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02920" y="1783080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Real-time GPS delivery confirmation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02920" y="2295144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Dashcam footage at load &amp; delivery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02920" y="2807208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Shock / tilt / temperature sensors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02920" y="3319272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Route timeline &amp; delivery timestamp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02920" y="3831336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Compliance &amp; driver behavior logs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029200" y="1097280"/>
            <a:ext cx="37490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029200" y="1097280"/>
            <a:ext cx="3749040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1143000"/>
            <a:ext cx="411480" cy="4114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623560" y="11430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XENTAG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5166360" y="1783080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  Cryptographic product authentication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5166360" y="2295144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Full chain-of-custody scan history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5166360" y="2807208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Tamper detection + alert logs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5166360" y="3319272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📜  Authentication certificate per item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5166360" y="3831336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Anti-counterfeiting traceability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4251960" y="2560320"/>
            <a:ext cx="640080" cy="10972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306824" y="2331720"/>
            <a:ext cx="530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➕</a:t>
            </a:r>
            <a:endParaRPr lang="en-US" sz="2200" dirty="0"/>
          </a:p>
        </p:txBody>
      </p:sp>
      <p:sp>
        <p:nvSpPr>
          <p:cNvPr id="24" name="Text 20"/>
          <p:cNvSpPr/>
          <p:nvPr/>
        </p:nvSpPr>
        <p:spPr>
          <a:xfrm>
            <a:off x="4114800" y="274320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Together: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chain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&amp; Automation Approach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023360" cy="3566160"/>
          </a:xfrm>
          <a:prstGeom prst="rect">
            <a:avLst/>
          </a:prstGeom>
          <a:solidFill>
            <a:srgbClr val="1A3C5E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1887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Claim Types → Branched Logic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719072"/>
            <a:ext cx="3749040" cy="640080"/>
          </a:xfrm>
          <a:prstGeom prst="rect">
            <a:avLst/>
          </a:prstGeom>
          <a:solidFill>
            <a:srgbClr val="0F2440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7556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Non-Delivery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20299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+ timestamp + dashcam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0" y="1783080"/>
            <a:ext cx="914400" cy="310896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178308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" y="2468880"/>
            <a:ext cx="3749040" cy="640080"/>
          </a:xfrm>
          <a:prstGeom prst="rect">
            <a:avLst/>
          </a:prstGeom>
          <a:solidFill>
            <a:srgbClr val="0F2440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50545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277977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Shock sensor + pre-load photo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0" y="2532888"/>
            <a:ext cx="914400" cy="310896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0" y="253288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02920" y="3218688"/>
            <a:ext cx="3749040" cy="640080"/>
          </a:xfrm>
          <a:prstGeom prst="rect">
            <a:avLst/>
          </a:prstGeom>
          <a:solidFill>
            <a:srgbClr val="0F2440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2552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As Described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" y="352958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xentag scan + listing match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0" y="3282696"/>
            <a:ext cx="914400" cy="310896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0" y="3282696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02920" y="3968496"/>
            <a:ext cx="3749040" cy="640080"/>
          </a:xfrm>
          <a:prstGeom prst="rect">
            <a:avLst/>
          </a:prstGeom>
          <a:solidFill>
            <a:srgbClr val="0F2440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40050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Counterfeit / Fraud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4360" y="42793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xentag auth cert + chain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00400" y="4032504"/>
            <a:ext cx="914400" cy="310896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0" y="403250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54880" y="1097280"/>
            <a:ext cx="4023360" cy="3566160"/>
          </a:xfrm>
          <a:prstGeom prst="rect">
            <a:avLst/>
          </a:prstGeom>
          <a:solidFill>
            <a:srgbClr val="1A3C5E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892040" y="1188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AI Does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892040" y="1719072"/>
            <a:ext cx="256032" cy="25603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30368" y="170078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230368" y="199339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notice text → maps to 1 of 4 claim types automatically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892040" y="2468880"/>
            <a:ext cx="256032" cy="25603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24505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Evidence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230368" y="274320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Zenduit + xentag APIs with order/tag ID in parallel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892040" y="3218688"/>
            <a:ext cx="256032" cy="25603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2004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Win Chance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230368" y="349300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engine → Weak / Moderate / Strong band + reasoning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892040" y="3968496"/>
            <a:ext cx="256032" cy="25603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30368" y="39502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Package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230368" y="424281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Template-grounded narrative — only facts from verified evidence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Not legal advice. Win estimates are guidelines only — the insurer or arbitrator makes the final decision.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Marketplace Model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260604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43000"/>
            <a:ext cx="2606040" cy="68580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23444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19202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Operators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914400" y="2313432"/>
            <a:ext cx="1508760" cy="27432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0" y="231343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7200" y="2715768"/>
            <a:ext cx="24231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monthly subscription + per-claim fee to access the agent, auto-pull evidence, and generate response packages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00400" y="1143000"/>
            <a:ext cx="260604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00400" y="1143000"/>
            <a:ext cx="2606040" cy="685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1234440"/>
            <a:ext cx="502920" cy="5029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246120" y="19202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Insurers &amp; Brokers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3749040" y="2313432"/>
            <a:ext cx="1508760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749040" y="231343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Buyers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3291840" y="2715768"/>
            <a:ext cx="24231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data access fee for verified Zenduit + xentag evidence feeds — accelerates their settlement decisions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035040" y="1143000"/>
            <a:ext cx="260604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035040" y="1143000"/>
            <a:ext cx="2606040" cy="68580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234440"/>
            <a:ext cx="502920" cy="5029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080760" y="19202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Adjusters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6583680" y="2313432"/>
            <a:ext cx="1508760" cy="27432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6583680" y="231343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6126480" y="2715768"/>
            <a:ext cx="24231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Listed in marketplace for complex cases — earn referral fee when fleet operators hire them through the platform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365760" y="4617720"/>
            <a:ext cx="8412480" cy="41148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457200" y="4617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Revenue:  Subscription (fleet base)  ·  Per-claim fee  ·  Insurer data access fee  ·  Adjuster referral commission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3C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440"/>
          </a:solidFill>
          <a:ln w="12700">
            <a:solidFill>
              <a:srgbClr val="0F24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Value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2468880" cy="1600200"/>
          </a:xfrm>
          <a:prstGeom prst="rect">
            <a:avLst/>
          </a:prstGeom>
          <a:solidFill>
            <a:srgbClr val="0F2440"/>
          </a:solidFill>
          <a:ln w="25400">
            <a:solidFill>
              <a:srgbClr val="2ECC7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261872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ECC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97%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02920" y="194767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time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assemble evidence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1097280"/>
            <a:ext cx="2468880" cy="1600200"/>
          </a:xfrm>
          <a:prstGeom prst="rect">
            <a:avLst/>
          </a:prstGeom>
          <a:solidFill>
            <a:srgbClr val="0F2440"/>
          </a:solidFill>
          <a:ln w="25400">
            <a:solidFill>
              <a:srgbClr val="F39C1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91840" y="1261872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39C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20%+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291840" y="194767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 in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win rate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80760" y="1097280"/>
            <a:ext cx="2468880" cy="1600200"/>
          </a:xfrm>
          <a:prstGeom prst="rect">
            <a:avLst/>
          </a:prstGeom>
          <a:solidFill>
            <a:srgbClr val="0F2440"/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80760" y="1261872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6080760" y="194767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claims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needed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017520"/>
            <a:ext cx="2468880" cy="1600200"/>
          </a:xfrm>
          <a:prstGeom prst="rect">
            <a:avLst/>
          </a:prstGeom>
          <a:solidFill>
            <a:srgbClr val="0F2440"/>
          </a:solidFill>
          <a:ln w="25400">
            <a:solidFill>
              <a:srgbClr val="E74C3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" y="3182112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74C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types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502920" y="386791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categories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 at launch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91840" y="3017520"/>
            <a:ext cx="2468880" cy="1600200"/>
          </a:xfrm>
          <a:prstGeom prst="rect">
            <a:avLst/>
          </a:prstGeom>
          <a:solidFill>
            <a:srgbClr val="0F2440"/>
          </a:solidFill>
          <a:ln w="25400">
            <a:solidFill>
              <a:srgbClr val="2ECC7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91840" y="3182112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ECC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 min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3291840" y="386791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response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per claim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80760" y="3017520"/>
            <a:ext cx="2468880" cy="1600200"/>
          </a:xfrm>
          <a:prstGeom prst="rect">
            <a:avLst/>
          </a:prstGeom>
          <a:solidFill>
            <a:srgbClr val="0F2440"/>
          </a:solidFill>
          <a:ln w="25400">
            <a:solidFill>
              <a:srgbClr val="F39C1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080760" y="3182112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39C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APIs</a:t>
            </a: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6080760" y="386791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Zenduit + xentag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auto-evidence pull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MVP Build Plan  —  4 Weeks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498080" y="237744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Already built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26517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2651760" cy="50292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6128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1–2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30352" y="1764792"/>
            <a:ext cx="164592" cy="16459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" y="170992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intake form + PDF upload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30352" y="2359152"/>
            <a:ext cx="164592" cy="16459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8096" y="23042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4-type LLM classifier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30352" y="2953512"/>
            <a:ext cx="164592" cy="16459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" y="289864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Zenduit mock API adapter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0352" y="3547872"/>
            <a:ext cx="164592" cy="16459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349300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xentag mock API adapter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30352" y="4142232"/>
            <a:ext cx="164592" cy="16459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8096" y="408736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bucket organizer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46120" y="1097280"/>
            <a:ext cx="26517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46120" y="1097280"/>
            <a:ext cx="2651760" cy="50292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46120" y="116128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410712" y="1764792"/>
            <a:ext cx="164592" cy="16459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48456" y="170992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win scoring engine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410712" y="2359152"/>
            <a:ext cx="164592" cy="16459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48456" y="23042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package narrative generator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410712" y="2953512"/>
            <a:ext cx="164592" cy="16459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48456" y="289864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approval gate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410712" y="3547872"/>
            <a:ext cx="164592" cy="16459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48456" y="349300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export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410712" y="4142232"/>
            <a:ext cx="164592" cy="16459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48456" y="408736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operator portal ✅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126480" y="1097280"/>
            <a:ext cx="26517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26480" y="1097280"/>
            <a:ext cx="265176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26480" y="116128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291072" y="1764792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28816" y="170992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portal (users, claims) ✅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291072" y="2359152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28816" y="23042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Integrations dashboard ✅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291072" y="2953512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28816" y="289864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charts ✅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291072" y="3547872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28816" y="349300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Zenduit API swap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291072" y="4142232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28816" y="408736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with 3 fleet operators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Commercialization &amp; Validation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114800" cy="3749040"/>
          </a:xfrm>
          <a:prstGeom prst="rect">
            <a:avLst/>
          </a:prstGeom>
          <a:solidFill>
            <a:srgbClr val="1A3C5E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17043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 Steps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64208"/>
            <a:ext cx="365760" cy="36576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64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66420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Pilot Fleet Operators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192024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first 10 claims free to TransNorth-style accounts (50–200 trucks)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48640" y="2414016"/>
            <a:ext cx="365760" cy="36576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4140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2414016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Zenduit Partner Outreach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05840" y="267004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as premium add-on — upsell to existing Zenduit fleet customers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48640" y="3163824"/>
            <a:ext cx="365760" cy="36576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1638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3163824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Insurer Intro Meeting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05840" y="3419856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verified data feed to 2 mid-size cargo insurers — sell data access tier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48640" y="3913632"/>
            <a:ext cx="365760" cy="36576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913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05840" y="391363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&amp; Iterate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05840" y="4169664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win rate improvement vs baseline; hit 3 paying customers in 60 days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54880" y="1051560"/>
            <a:ext cx="4023360" cy="1828800"/>
          </a:xfrm>
          <a:prstGeom prst="rect">
            <a:avLst/>
          </a:prstGeom>
          <a:solidFill>
            <a:srgbClr val="1A3C5E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937760" y="117043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Demand Signals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37760" y="1600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3+ pilots commit after free tier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937760" y="1901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Net Promoter Score &gt; 40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937760" y="22037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Insurer requests data feed access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937760" y="250545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&gt; 50% time reduction vs manual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54880" y="2999232"/>
            <a:ext cx="4023360" cy="1828800"/>
          </a:xfrm>
          <a:prstGeom prst="rect">
            <a:avLst/>
          </a:prstGeom>
          <a:solidFill>
            <a:srgbClr val="1A3C5E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937760" y="31089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Tiers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937760" y="356616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989320" y="356616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$99/mo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949440" y="356616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$9/claim — up to 10 claims/mo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937760" y="395020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989320" y="3950208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$299/mo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949440" y="395020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$6/claim — up to 50 claims/mo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937760" y="4334256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989320" y="4334256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949440" y="4334256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+ insurer data feed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1828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54480" y="1828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94560" y="1828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34640" y="1828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0" y="1828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0" y="1828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1828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94960" y="1828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35040" y="1828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675120" y="1828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0" y="1828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55280" y="1828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95360" y="1828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10058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10058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54480" y="10058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194560" y="10058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34640" y="10058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0058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14800" y="10058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0" y="10058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94960" y="10058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35040" y="10058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675120" y="10058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15200" y="10058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955280" y="10058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595360" y="10058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18288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14400" y="18288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554480" y="18288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194560" y="18288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834640" y="18288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474720" y="18288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114800" y="18288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54880" y="18288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394960" y="18288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18288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675120" y="18288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315200" y="18288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955280" y="18288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595360" y="18288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74320" y="26517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14400" y="26517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554480" y="26517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194560" y="26517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834640" y="26517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474720" y="26517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114800" y="26517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0" y="26517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394960" y="26517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035040" y="26517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675120" y="26517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315200" y="26517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955280" y="26517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595360" y="26517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34747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14400" y="34747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554480" y="34747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194560" y="34747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834640" y="34747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474720" y="34747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114800" y="34747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754880" y="34747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394960" y="34747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035040" y="34747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675120" y="34747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315200" y="34747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955280" y="34747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595360" y="34747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74320" y="42976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14400" y="42976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554480" y="42976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194560" y="42976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834640" y="42976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474720" y="42976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114800" y="42976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754880" y="42976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5394960" y="42976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035040" y="42976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675120" y="42976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315200" y="42976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955280" y="42976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595360" y="42976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931920" y="457200"/>
            <a:ext cx="1280160" cy="128016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pic>
        <p:nvPicPr>
          <p:cNvPr id="8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731520"/>
            <a:ext cx="731520" cy="731520"/>
          </a:xfrm>
          <a:prstGeom prst="rect">
            <a:avLst/>
          </a:prstGeom>
        </p:spPr>
      </p:pic>
      <p:sp>
        <p:nvSpPr>
          <p:cNvPr id="89" name="Text 86"/>
          <p:cNvSpPr/>
          <p:nvPr/>
        </p:nvSpPr>
        <p:spPr>
          <a:xfrm>
            <a:off x="457200" y="18745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Build CargoGuard AI</a:t>
            </a:r>
            <a:endParaRPr lang="en-US" sz="4000" dirty="0"/>
          </a:p>
        </p:txBody>
      </p:sp>
      <p:sp>
        <p:nvSpPr>
          <p:cNvPr id="90" name="Text 87"/>
          <p:cNvSpPr/>
          <p:nvPr/>
        </p:nvSpPr>
        <p:spPr>
          <a:xfrm>
            <a:off x="914400" y="27889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Freight claims don't have to take 20 hours.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Zenduit + xentag already have the evidence — we just need to assemble it.</a:t>
            </a:r>
            <a:endParaRPr lang="en-US" sz="1500" dirty="0"/>
          </a:p>
        </p:txBody>
      </p:sp>
      <p:sp>
        <p:nvSpPr>
          <p:cNvPr id="91" name="Shape 88"/>
          <p:cNvSpPr/>
          <p:nvPr/>
        </p:nvSpPr>
        <p:spPr>
          <a:xfrm>
            <a:off x="914400" y="3749040"/>
            <a:ext cx="2377440" cy="502920"/>
          </a:xfrm>
          <a:prstGeom prst="rect">
            <a:avLst/>
          </a:prstGeom>
          <a:solidFill>
            <a:srgbClr val="1A3C5E"/>
          </a:solidFill>
          <a:ln w="12700">
            <a:solidFill>
              <a:srgbClr val="2ECC7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92" name="Text 89"/>
          <p:cNvSpPr/>
          <p:nvPr/>
        </p:nvSpPr>
        <p:spPr>
          <a:xfrm>
            <a:off x="914400" y="37490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React + Vite app built</a:t>
            </a:r>
            <a:endParaRPr lang="en-US" sz="1100" dirty="0"/>
          </a:p>
        </p:txBody>
      </p:sp>
      <p:sp>
        <p:nvSpPr>
          <p:cNvPr id="93" name="Shape 90"/>
          <p:cNvSpPr/>
          <p:nvPr/>
        </p:nvSpPr>
        <p:spPr>
          <a:xfrm>
            <a:off x="3566160" y="3749040"/>
            <a:ext cx="2377440" cy="502920"/>
          </a:xfrm>
          <a:prstGeom prst="rect">
            <a:avLst/>
          </a:prstGeom>
          <a:solidFill>
            <a:srgbClr val="1A3C5E"/>
          </a:solidFill>
          <a:ln w="12700">
            <a:solidFill>
              <a:srgbClr val="2ECC7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94" name="Text 91"/>
          <p:cNvSpPr/>
          <p:nvPr/>
        </p:nvSpPr>
        <p:spPr>
          <a:xfrm>
            <a:off x="3566160" y="37490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Full PRD + specs in repo</a:t>
            </a:r>
            <a:endParaRPr lang="en-US" sz="1100" dirty="0"/>
          </a:p>
        </p:txBody>
      </p:sp>
      <p:sp>
        <p:nvSpPr>
          <p:cNvPr id="95" name="Shape 92"/>
          <p:cNvSpPr/>
          <p:nvPr/>
        </p:nvSpPr>
        <p:spPr>
          <a:xfrm>
            <a:off x="6217920" y="3749040"/>
            <a:ext cx="2377440" cy="502920"/>
          </a:xfrm>
          <a:prstGeom prst="rect">
            <a:avLst/>
          </a:prstGeom>
          <a:solidFill>
            <a:srgbClr val="1A3C5E"/>
          </a:solidFill>
          <a:ln w="12700">
            <a:solidFill>
              <a:srgbClr val="2ECC7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96" name="Text 93"/>
          <p:cNvSpPr/>
          <p:nvPr/>
        </p:nvSpPr>
        <p:spPr>
          <a:xfrm>
            <a:off x="6217920" y="37490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 3 pilot fleets ready to test</a:t>
            </a:r>
            <a:endParaRPr lang="en-US" sz="1100" dirty="0"/>
          </a:p>
        </p:txBody>
      </p:sp>
      <p:sp>
        <p:nvSpPr>
          <p:cNvPr id="97" name="Text 94"/>
          <p:cNvSpPr/>
          <p:nvPr/>
        </p:nvSpPr>
        <p:spPr>
          <a:xfrm>
            <a:off x="1828800" y="4480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github.com/dhruvht612/CargoGuard-AII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CargoGuard AI — Venture Proposal</dc:title>
  <dc:subject>PptxGenJS Presentation</dc:subject>
  <dc:creator>CargoGuard Team</dc:creator>
  <cp:lastModifiedBy>CargoGuard Team</cp:lastModifiedBy>
  <cp:revision>1</cp:revision>
  <dcterms:created xsi:type="dcterms:W3CDTF">2026-06-04T23:05:13Z</dcterms:created>
  <dcterms:modified xsi:type="dcterms:W3CDTF">2026-06-04T23:05:13Z</dcterms:modified>
</cp:coreProperties>
</file>